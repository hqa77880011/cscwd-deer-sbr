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6733520" cy="489204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 1: Local LiDAR/radar pillar features pass through DEER routing, base projection, SBR correction and output projection before shared AttFuse aggregation and detection. The original radar feature supplies SBR and the shared output bypass. Detached missing/spurious scores reach SBR separately. Current observation maps provide occupancy, FOV, range and availability. Source: manuscript main.tex, Method. All scientific relationships are unchanged from the implementation. Author identity: Anonymous Authors. Designed for full-width placement in the six-page IEEE manuscript.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cal_group"/>
          <p:cNvSpPr/>
          <p:nvPr/>
        </p:nvSpPr>
        <p:spPr>
          <a:xfrm>
            <a:off x="109728" y="585216"/>
            <a:ext cx="11996928" cy="4160520"/>
          </a:xfrm>
          <a:prstGeom prst="rect">
            <a:avLst/>
          </a:prstGeom>
          <a:solidFill>
            <a:srgbClr val="FFFFFF"/>
          </a:solidFill>
          <a:ln w="13970">
            <a:solidFill>
              <a:srgbClr val="BAC6D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cooperative_group"/>
          <p:cNvSpPr/>
          <p:nvPr/>
        </p:nvSpPr>
        <p:spPr>
          <a:xfrm>
            <a:off x="12390120" y="585216"/>
            <a:ext cx="4206240" cy="4160520"/>
          </a:xfrm>
          <a:prstGeom prst="rect">
            <a:avLst/>
          </a:prstGeom>
          <a:solidFill>
            <a:srgbClr val="FFFFFF"/>
          </a:solidFill>
          <a:ln w="13970">
            <a:solidFill>
              <a:srgbClr val="BAC6D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local_heading"/>
          <p:cNvSpPr txBox="1"/>
          <p:nvPr/>
        </p:nvSpPr>
        <p:spPr>
          <a:xfrm>
            <a:off x="228600" y="45720"/>
            <a:ext cx="11750040" cy="411480"/>
          </a:xfrm>
          <a:prstGeom prst="rect">
            <a:avLst/>
          </a:prstGeom>
          <a:noFill/>
          <a:effectLst/>
        </p:spPr>
        <p:txBody>
          <a:bodyPr wrap="none" lIns="45720" rIns="45720" tIns="0" bIns="0" anchor="ctr">
            <a:noAutofit/>
          </a:bodyPr>
          <a:lstStyle/>
          <a:p>
            <a:pPr algn="ctr">
              <a:lnSpc>
                <a:spcPct val="105000"/>
              </a:lnSpc>
              <a:spcBef>
                <a:spcPts val="0"/>
              </a:spcBef>
              <a:spcAft>
                <a:spcPts val="0"/>
              </a:spcAft>
              <a:defRPr sz="2300" b="1">
                <a:solidFill>
                  <a:srgbClr val="233347"/>
                </a:solidFill>
                <a:latin typeface="Arial"/>
              </a:defRPr>
            </a:pPr>
            <a:r>
              <a:t>LOCAL PROCESSING AT EACH AGENT</a:t>
            </a:r>
          </a:p>
        </p:txBody>
      </p:sp>
      <p:sp>
        <p:nvSpPr>
          <p:cNvPr id="5" name="cooperative_heading"/>
          <p:cNvSpPr txBox="1"/>
          <p:nvPr/>
        </p:nvSpPr>
        <p:spPr>
          <a:xfrm>
            <a:off x="12435840" y="45720"/>
            <a:ext cx="4069080" cy="411480"/>
          </a:xfrm>
          <a:prstGeom prst="rect">
            <a:avLst/>
          </a:prstGeom>
          <a:noFill/>
          <a:effectLst/>
        </p:spPr>
        <p:txBody>
          <a:bodyPr wrap="none" lIns="45720" rIns="45720" tIns="0" bIns="0" anchor="ctr">
            <a:noAutofit/>
          </a:bodyPr>
          <a:lstStyle/>
          <a:p>
            <a:pPr algn="ctr">
              <a:lnSpc>
                <a:spcPct val="105000"/>
              </a:lnSpc>
              <a:spcBef>
                <a:spcPts val="0"/>
              </a:spcBef>
              <a:spcAft>
                <a:spcPts val="0"/>
              </a:spcAft>
              <a:defRPr sz="2100" b="1">
                <a:solidFill>
                  <a:srgbClr val="287960"/>
                </a:solidFill>
                <a:latin typeface="Arial"/>
              </a:defRPr>
            </a:pPr>
            <a:r>
              <a:t>COOPERATIVE DETECTION</a:t>
            </a:r>
          </a:p>
        </p:txBody>
      </p:sp>
      <p:sp>
        <p:nvSpPr>
          <p:cNvPr id="6" name="encoders"/>
          <p:cNvSpPr/>
          <p:nvPr/>
        </p:nvSpPr>
        <p:spPr>
          <a:xfrm>
            <a:off x="365760" y="1828800"/>
            <a:ext cx="2103120" cy="1371600"/>
          </a:xfrm>
          <a:prstGeom prst="roundRect">
            <a:avLst>
              <a:gd name="adj" fmla="val 8000"/>
            </a:avLst>
          </a:prstGeom>
          <a:solidFill>
            <a:srgbClr val="EBF2F9"/>
          </a:solidFill>
          <a:ln w="19050">
            <a:solidFill>
              <a:srgbClr val="2864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encoders_title"/>
          <p:cNvSpPr txBox="1"/>
          <p:nvPr/>
        </p:nvSpPr>
        <p:spPr>
          <a:xfrm>
            <a:off x="429768" y="1947672"/>
            <a:ext cx="1975103" cy="438912"/>
          </a:xfrm>
          <a:prstGeom prst="rect">
            <a:avLst/>
          </a:prstGeom>
          <a:noFill/>
          <a:effectLst/>
        </p:spPr>
        <p:txBody>
          <a:bodyPr wrap="none" lIns="45720" rIns="45720" tIns="0" bIns="0" anchor="ctr">
            <a:noAutofit/>
          </a:bodyPr>
          <a:lstStyle/>
          <a:p>
            <a:pPr algn="ctr">
              <a:lnSpc>
                <a:spcPct val="105000"/>
              </a:lnSpc>
              <a:spcBef>
                <a:spcPts val="0"/>
              </a:spcBef>
              <a:spcAft>
                <a:spcPts val="0"/>
              </a:spcAft>
              <a:defRPr sz="1950" b="1">
                <a:solidFill>
                  <a:srgbClr val="28649B"/>
                </a:solidFill>
                <a:latin typeface="Arial"/>
              </a:defRPr>
            </a:pPr>
            <a:r>
              <a:t>LiDAR / Radar</a:t>
            </a:r>
          </a:p>
        </p:txBody>
      </p:sp>
      <p:sp>
        <p:nvSpPr>
          <p:cNvPr id="8" name="encoders_body"/>
          <p:cNvSpPr txBox="1"/>
          <p:nvPr/>
        </p:nvSpPr>
        <p:spPr>
          <a:xfrm>
            <a:off x="429768" y="2432304"/>
            <a:ext cx="1975103" cy="630936"/>
          </a:xfrm>
          <a:prstGeom prst="rect">
            <a:avLst/>
          </a:prstGeom>
          <a:noFill/>
          <a:effectLst/>
        </p:spPr>
        <p:txBody>
          <a:bodyPr wrap="none" lIns="45720" rIns="45720" tIns="0" bIns="0" anchor="ctr">
            <a:noAutofit/>
          </a:bodyPr>
          <a:lstStyle/>
          <a:p>
            <a:pPr algn="ctr">
              <a:lnSpc>
                <a:spcPct val="105000"/>
              </a:lnSpc>
              <a:spcBef>
                <a:spcPts val="0"/>
              </a:spcBef>
              <a:spcAft>
                <a:spcPts val="0"/>
              </a:spcAft>
              <a:defRPr sz="1850" b="0">
                <a:solidFill>
                  <a:srgbClr val="233347"/>
                </a:solidFill>
                <a:latin typeface="Arial"/>
              </a:defRPr>
            </a:pPr>
            <a:r>
              <a:t>Pillar encoders</a:t>
            </a:r>
          </a:p>
          <a:p>
            <a:pPr algn="ctr">
              <a:lnSpc>
                <a:spcPct val="105000"/>
              </a:lnSpc>
              <a:spcBef>
                <a:spcPts val="0"/>
              </a:spcBef>
              <a:spcAft>
                <a:spcPts val="0"/>
              </a:spcAft>
              <a:defRPr sz="1850" b="0">
                <a:solidFill>
                  <a:srgbClr val="233347"/>
                </a:solidFill>
                <a:latin typeface="Arial"/>
              </a:defRPr>
            </a:pPr>
            <a:r>
              <a:t>+ scatter</a:t>
            </a:r>
          </a:p>
        </p:txBody>
      </p:sp>
      <p:sp>
        <p:nvSpPr>
          <p:cNvPr id="9" name="deer"/>
          <p:cNvSpPr/>
          <p:nvPr/>
        </p:nvSpPr>
        <p:spPr>
          <a:xfrm>
            <a:off x="2743200" y="1828800"/>
            <a:ext cx="2286000" cy="1371600"/>
          </a:xfrm>
          <a:prstGeom prst="roundRect">
            <a:avLst>
              <a:gd name="adj" fmla="val 8000"/>
            </a:avLst>
          </a:prstGeom>
          <a:solidFill>
            <a:srgbClr val="EBF2F9"/>
          </a:solidFill>
          <a:ln w="19050">
            <a:solidFill>
              <a:srgbClr val="2864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deer_title"/>
          <p:cNvSpPr txBox="1"/>
          <p:nvPr/>
        </p:nvSpPr>
        <p:spPr>
          <a:xfrm>
            <a:off x="2807208" y="1947672"/>
            <a:ext cx="2157984" cy="438912"/>
          </a:xfrm>
          <a:prstGeom prst="rect">
            <a:avLst/>
          </a:prstGeom>
          <a:noFill/>
          <a:effectLst/>
        </p:spPr>
        <p:txBody>
          <a:bodyPr wrap="none" lIns="45720" rIns="45720" tIns="0" bIns="0" anchor="ctr">
            <a:noAutofit/>
          </a:bodyPr>
          <a:lstStyle/>
          <a:p>
            <a:pPr algn="ctr">
              <a:lnSpc>
                <a:spcPct val="105000"/>
              </a:lnSpc>
              <a:spcBef>
                <a:spcPts val="0"/>
              </a:spcBef>
              <a:spcAft>
                <a:spcPts val="0"/>
              </a:spcAft>
              <a:defRPr sz="2200" b="1">
                <a:solidFill>
                  <a:srgbClr val="28649B"/>
                </a:solidFill>
                <a:latin typeface="Arial"/>
              </a:defRPr>
            </a:pPr>
            <a:r>
              <a:t>DEER (A)</a:t>
            </a:r>
          </a:p>
        </p:txBody>
      </p:sp>
      <p:sp>
        <p:nvSpPr>
          <p:cNvPr id="11" name="deer_body"/>
          <p:cNvSpPr txBox="1"/>
          <p:nvPr/>
        </p:nvSpPr>
        <p:spPr>
          <a:xfrm>
            <a:off x="2807208" y="2432304"/>
            <a:ext cx="2157984" cy="630936"/>
          </a:xfrm>
          <a:prstGeom prst="rect">
            <a:avLst/>
          </a:prstGeom>
          <a:noFill/>
          <a:effectLst/>
        </p:spPr>
        <p:txBody>
          <a:bodyPr wrap="none" lIns="45720" rIns="45720" tIns="0" bIns="0" anchor="ctr">
            <a:noAutofit/>
          </a:bodyPr>
          <a:lstStyle/>
          <a:p>
            <a:pPr algn="ctr">
              <a:lnSpc>
                <a:spcPct val="105000"/>
              </a:lnSpc>
              <a:spcBef>
                <a:spcPts val="0"/>
              </a:spcBef>
              <a:spcAft>
                <a:spcPts val="0"/>
              </a:spcAft>
              <a:defRPr sz="1850" b="0">
                <a:solidFill>
                  <a:srgbClr val="233347"/>
                </a:solidFill>
                <a:latin typeface="Arial"/>
              </a:defRPr>
            </a:pPr>
            <a:r>
              <a:t>Evidence routing</a:t>
            </a:r>
          </a:p>
          <a:p>
            <a:pPr algn="ctr">
              <a:lnSpc>
                <a:spcPct val="105000"/>
              </a:lnSpc>
              <a:spcBef>
                <a:spcPts val="0"/>
              </a:spcBef>
              <a:spcAft>
                <a:spcPts val="0"/>
              </a:spcAft>
              <a:defRPr sz="1850" b="0">
                <a:solidFill>
                  <a:srgbClr val="233347"/>
                </a:solidFill>
                <a:latin typeface="Arial"/>
              </a:defRPr>
            </a:pPr>
            <a:r>
              <a:t>Retained gains</a:t>
            </a:r>
          </a:p>
        </p:txBody>
      </p:sp>
      <p:sp>
        <p:nvSpPr>
          <p:cNvPr id="12" name="base"/>
          <p:cNvSpPr/>
          <p:nvPr/>
        </p:nvSpPr>
        <p:spPr>
          <a:xfrm>
            <a:off x="5394960" y="1828800"/>
            <a:ext cx="1463040" cy="1371600"/>
          </a:xfrm>
          <a:prstGeom prst="roundRect">
            <a:avLst>
              <a:gd name="adj" fmla="val 8000"/>
            </a:avLst>
          </a:prstGeom>
          <a:solidFill>
            <a:srgbClr val="EBF2F9"/>
          </a:solidFill>
          <a:ln w="19050">
            <a:solidFill>
              <a:srgbClr val="2864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base_title"/>
          <p:cNvSpPr txBox="1"/>
          <p:nvPr/>
        </p:nvSpPr>
        <p:spPr>
          <a:xfrm>
            <a:off x="5458968" y="1947672"/>
            <a:ext cx="1335024" cy="438912"/>
          </a:xfrm>
          <a:prstGeom prst="rect">
            <a:avLst/>
          </a:prstGeom>
          <a:noFill/>
          <a:effectLst/>
        </p:spPr>
        <p:txBody>
          <a:bodyPr wrap="none" lIns="45720" rIns="45720" tIns="0" bIns="0" anchor="ctr">
            <a:noAutofit/>
          </a:bodyPr>
          <a:lstStyle/>
          <a:p>
            <a:pPr algn="ctr">
              <a:lnSpc>
                <a:spcPct val="105000"/>
              </a:lnSpc>
              <a:spcBef>
                <a:spcPts val="0"/>
              </a:spcBef>
              <a:spcAft>
                <a:spcPts val="0"/>
              </a:spcAft>
              <a:defRPr sz="2200" b="1">
                <a:solidFill>
                  <a:srgbClr val="28649B"/>
                </a:solidFill>
                <a:latin typeface="Arial"/>
              </a:defRPr>
            </a:pPr>
            <a:r>
              <a:t>Base</a:t>
            </a:r>
          </a:p>
        </p:txBody>
      </p:sp>
      <p:sp>
        <p:nvSpPr>
          <p:cNvPr id="14" name="base_body"/>
          <p:cNvSpPr txBox="1"/>
          <p:nvPr/>
        </p:nvSpPr>
        <p:spPr>
          <a:xfrm>
            <a:off x="5458968" y="2432304"/>
            <a:ext cx="1335024" cy="630936"/>
          </a:xfrm>
          <a:prstGeom prst="rect">
            <a:avLst/>
          </a:prstGeom>
          <a:noFill/>
          <a:effectLst/>
        </p:spPr>
        <p:txBody>
          <a:bodyPr wrap="none" lIns="45720" rIns="45720" tIns="0" bIns="0" anchor="ctr">
            <a:noAutofit/>
          </a:bodyPr>
          <a:lstStyle/>
          <a:p>
            <a:pPr algn="ctr">
              <a:lnSpc>
                <a:spcPct val="105000"/>
              </a:lnSpc>
              <a:spcBef>
                <a:spcPts val="0"/>
              </a:spcBef>
              <a:spcAft>
                <a:spcPts val="0"/>
              </a:spcAft>
              <a:defRPr sz="1850" b="0">
                <a:solidFill>
                  <a:srgbClr val="233347"/>
                </a:solidFill>
                <a:latin typeface="Arial"/>
              </a:defRPr>
            </a:pPr>
            <a:r>
              <a:t>Projection</a:t>
            </a:r>
          </a:p>
        </p:txBody>
      </p:sp>
      <p:sp>
        <p:nvSpPr>
          <p:cNvPr id="15" name="sbr"/>
          <p:cNvSpPr/>
          <p:nvPr/>
        </p:nvSpPr>
        <p:spPr>
          <a:xfrm>
            <a:off x="7178040" y="1828800"/>
            <a:ext cx="2651760" cy="1371600"/>
          </a:xfrm>
          <a:prstGeom prst="roundRect">
            <a:avLst>
              <a:gd name="adj" fmla="val 8000"/>
            </a:avLst>
          </a:prstGeom>
          <a:solidFill>
            <a:srgbClr val="F2EDF7"/>
          </a:solidFill>
          <a:ln w="19050">
            <a:solidFill>
              <a:srgbClr val="79539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sbr_title"/>
          <p:cNvSpPr txBox="1"/>
          <p:nvPr/>
        </p:nvSpPr>
        <p:spPr>
          <a:xfrm>
            <a:off x="7242048" y="1947672"/>
            <a:ext cx="2523744" cy="438912"/>
          </a:xfrm>
          <a:prstGeom prst="rect">
            <a:avLst/>
          </a:prstGeom>
          <a:noFill/>
          <a:effectLst/>
        </p:spPr>
        <p:txBody>
          <a:bodyPr wrap="none" lIns="45720" rIns="45720" tIns="0" bIns="0" anchor="ctr">
            <a:noAutofit/>
          </a:bodyPr>
          <a:lstStyle/>
          <a:p>
            <a:pPr algn="ctr">
              <a:lnSpc>
                <a:spcPct val="105000"/>
              </a:lnSpc>
              <a:spcBef>
                <a:spcPts val="0"/>
              </a:spcBef>
              <a:spcAft>
                <a:spcPts val="0"/>
              </a:spcAft>
              <a:defRPr sz="2200" b="1">
                <a:solidFill>
                  <a:srgbClr val="79539C"/>
                </a:solidFill>
                <a:latin typeface="Arial"/>
              </a:defRPr>
            </a:pPr>
            <a:r>
              <a:t>SBR (B)</a:t>
            </a:r>
          </a:p>
        </p:txBody>
      </p:sp>
      <p:sp>
        <p:nvSpPr>
          <p:cNvPr id="17" name="sbr_body"/>
          <p:cNvSpPr txBox="1"/>
          <p:nvPr/>
        </p:nvSpPr>
        <p:spPr>
          <a:xfrm>
            <a:off x="7242048" y="2432304"/>
            <a:ext cx="2523744" cy="630936"/>
          </a:xfrm>
          <a:prstGeom prst="rect">
            <a:avLst/>
          </a:prstGeom>
          <a:noFill/>
          <a:effectLst/>
        </p:spPr>
        <p:txBody>
          <a:bodyPr wrap="none" lIns="45720" rIns="45720" tIns="0" bIns="0" anchor="ctr">
            <a:noAutofit/>
          </a:bodyPr>
          <a:lstStyle/>
          <a:p>
            <a:pPr algn="ctr">
              <a:lnSpc>
                <a:spcPct val="105000"/>
              </a:lnSpc>
              <a:spcBef>
                <a:spcPts val="0"/>
              </a:spcBef>
              <a:spcAft>
                <a:spcPts val="0"/>
              </a:spcAft>
              <a:defRPr sz="1850" b="0">
                <a:solidFill>
                  <a:srgbClr val="233347"/>
                </a:solidFill>
                <a:latin typeface="Arial"/>
              </a:defRPr>
            </a:pPr>
            <a:r>
              <a:t>Local donors + null</a:t>
            </a:r>
          </a:p>
          <a:p>
            <a:pPr algn="ctr">
              <a:lnSpc>
                <a:spcPct val="105000"/>
              </a:lnSpc>
              <a:spcBef>
                <a:spcPts val="0"/>
              </a:spcBef>
              <a:spcAft>
                <a:spcPts val="0"/>
              </a:spcAft>
              <a:defRPr sz="1850" b="0">
                <a:solidFill>
                  <a:srgbClr val="233347"/>
                </a:solidFill>
                <a:latin typeface="Arial"/>
              </a:defRPr>
            </a:pPr>
            <a:r>
              <a:t>Support + bound</a:t>
            </a:r>
          </a:p>
        </p:txBody>
      </p:sp>
      <p:sp>
        <p:nvSpPr>
          <p:cNvPr id="18" name="output"/>
          <p:cNvSpPr/>
          <p:nvPr/>
        </p:nvSpPr>
        <p:spPr>
          <a:xfrm>
            <a:off x="10149840" y="1828800"/>
            <a:ext cx="1508760" cy="1371600"/>
          </a:xfrm>
          <a:prstGeom prst="roundRect">
            <a:avLst>
              <a:gd name="adj" fmla="val 8000"/>
            </a:avLst>
          </a:prstGeom>
          <a:solidFill>
            <a:srgbClr val="EBF2F9"/>
          </a:solidFill>
          <a:ln w="19050">
            <a:solidFill>
              <a:srgbClr val="2864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output_title"/>
          <p:cNvSpPr txBox="1"/>
          <p:nvPr/>
        </p:nvSpPr>
        <p:spPr>
          <a:xfrm>
            <a:off x="10213848" y="1947672"/>
            <a:ext cx="1380743" cy="438912"/>
          </a:xfrm>
          <a:prstGeom prst="rect">
            <a:avLst/>
          </a:prstGeom>
          <a:noFill/>
          <a:effectLst/>
        </p:spPr>
        <p:txBody>
          <a:bodyPr wrap="none" lIns="45720" rIns="45720" tIns="0" bIns="0" anchor="ctr">
            <a:noAutofit/>
          </a:bodyPr>
          <a:lstStyle/>
          <a:p>
            <a:pPr algn="ctr">
              <a:lnSpc>
                <a:spcPct val="105000"/>
              </a:lnSpc>
              <a:spcBef>
                <a:spcPts val="0"/>
              </a:spcBef>
              <a:spcAft>
                <a:spcPts val="0"/>
              </a:spcAft>
              <a:defRPr sz="2200" b="1">
                <a:solidFill>
                  <a:srgbClr val="28649B"/>
                </a:solidFill>
                <a:latin typeface="Arial"/>
              </a:defRPr>
            </a:pPr>
            <a:r>
              <a:t>Output</a:t>
            </a:r>
          </a:p>
        </p:txBody>
      </p:sp>
      <p:sp>
        <p:nvSpPr>
          <p:cNvPr id="20" name="output_body"/>
          <p:cNvSpPr txBox="1"/>
          <p:nvPr/>
        </p:nvSpPr>
        <p:spPr>
          <a:xfrm>
            <a:off x="10213848" y="2432304"/>
            <a:ext cx="1380743" cy="630936"/>
          </a:xfrm>
          <a:prstGeom prst="rect">
            <a:avLst/>
          </a:prstGeom>
          <a:noFill/>
          <a:effectLst/>
        </p:spPr>
        <p:txBody>
          <a:bodyPr wrap="none" lIns="45720" rIns="45720" tIns="0" bIns="0" anchor="ctr">
            <a:noAutofit/>
          </a:bodyPr>
          <a:lstStyle/>
          <a:p>
            <a:pPr algn="ctr">
              <a:lnSpc>
                <a:spcPct val="105000"/>
              </a:lnSpc>
              <a:spcBef>
                <a:spcPts val="0"/>
              </a:spcBef>
              <a:spcAft>
                <a:spcPts val="0"/>
              </a:spcAft>
              <a:defRPr sz="1850" b="0">
                <a:solidFill>
                  <a:srgbClr val="233347"/>
                </a:solidFill>
                <a:latin typeface="Arial"/>
              </a:defRPr>
            </a:pPr>
            <a:r>
              <a:t>Projection</a:t>
            </a:r>
          </a:p>
        </p:txBody>
      </p:sp>
      <p:sp>
        <p:nvSpPr>
          <p:cNvPr id="21" name="attfuse"/>
          <p:cNvSpPr/>
          <p:nvPr/>
        </p:nvSpPr>
        <p:spPr>
          <a:xfrm>
            <a:off x="12618720" y="1828800"/>
            <a:ext cx="1920240" cy="1371600"/>
          </a:xfrm>
          <a:prstGeom prst="roundRect">
            <a:avLst>
              <a:gd name="adj" fmla="val 8000"/>
            </a:avLst>
          </a:prstGeom>
          <a:solidFill>
            <a:srgbClr val="EAF4EE"/>
          </a:solidFill>
          <a:ln w="19050">
            <a:solidFill>
              <a:srgbClr val="28796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attfuse_title"/>
          <p:cNvSpPr txBox="1"/>
          <p:nvPr/>
        </p:nvSpPr>
        <p:spPr>
          <a:xfrm>
            <a:off x="12682728" y="1947672"/>
            <a:ext cx="1792224" cy="438912"/>
          </a:xfrm>
          <a:prstGeom prst="rect">
            <a:avLst/>
          </a:prstGeom>
          <a:noFill/>
          <a:effectLst/>
        </p:spPr>
        <p:txBody>
          <a:bodyPr wrap="none" lIns="45720" rIns="45720" tIns="0" bIns="0" anchor="ctr">
            <a:noAutofit/>
          </a:bodyPr>
          <a:lstStyle/>
          <a:p>
            <a:pPr algn="ctr">
              <a:lnSpc>
                <a:spcPct val="105000"/>
              </a:lnSpc>
              <a:spcBef>
                <a:spcPts val="0"/>
              </a:spcBef>
              <a:spcAft>
                <a:spcPts val="0"/>
              </a:spcAft>
              <a:defRPr sz="2200" b="1">
                <a:solidFill>
                  <a:srgbClr val="287960"/>
                </a:solidFill>
                <a:latin typeface="Arial"/>
              </a:defRPr>
            </a:pPr>
            <a:r>
              <a:t>Backbone</a:t>
            </a:r>
          </a:p>
        </p:txBody>
      </p:sp>
      <p:sp>
        <p:nvSpPr>
          <p:cNvPr id="23" name="attfuse_body"/>
          <p:cNvSpPr txBox="1"/>
          <p:nvPr/>
        </p:nvSpPr>
        <p:spPr>
          <a:xfrm>
            <a:off x="12682728" y="2432304"/>
            <a:ext cx="1792224" cy="630936"/>
          </a:xfrm>
          <a:prstGeom prst="rect">
            <a:avLst/>
          </a:prstGeom>
          <a:noFill/>
          <a:effectLst/>
        </p:spPr>
        <p:txBody>
          <a:bodyPr wrap="none" lIns="45720" rIns="45720" tIns="0" bIns="0" anchor="ctr">
            <a:noAutofit/>
          </a:bodyPr>
          <a:lstStyle/>
          <a:p>
            <a:pPr algn="ctr">
              <a:lnSpc>
                <a:spcPct val="105000"/>
              </a:lnSpc>
              <a:spcBef>
                <a:spcPts val="0"/>
              </a:spcBef>
              <a:spcAft>
                <a:spcPts val="0"/>
              </a:spcAft>
              <a:defRPr sz="1850" b="0">
                <a:solidFill>
                  <a:srgbClr val="233347"/>
                </a:solidFill>
                <a:latin typeface="Arial"/>
              </a:defRPr>
            </a:pPr>
            <a:r>
              <a:t>+ AttFuse</a:t>
            </a:r>
          </a:p>
        </p:txBody>
      </p:sp>
      <p:sp>
        <p:nvSpPr>
          <p:cNvPr id="24" name="boxes"/>
          <p:cNvSpPr/>
          <p:nvPr/>
        </p:nvSpPr>
        <p:spPr>
          <a:xfrm>
            <a:off x="14996159" y="1828800"/>
            <a:ext cx="1325880" cy="1371600"/>
          </a:xfrm>
          <a:prstGeom prst="roundRect">
            <a:avLst>
              <a:gd name="adj" fmla="val 8000"/>
            </a:avLst>
          </a:prstGeom>
          <a:solidFill>
            <a:srgbClr val="EAF4EE"/>
          </a:solidFill>
          <a:ln w="19050">
            <a:solidFill>
              <a:srgbClr val="28796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boxes_title"/>
          <p:cNvSpPr txBox="1"/>
          <p:nvPr/>
        </p:nvSpPr>
        <p:spPr>
          <a:xfrm>
            <a:off x="15060167" y="1947672"/>
            <a:ext cx="1197864" cy="438912"/>
          </a:xfrm>
          <a:prstGeom prst="rect">
            <a:avLst/>
          </a:prstGeom>
          <a:noFill/>
          <a:effectLst/>
        </p:spPr>
        <p:txBody>
          <a:bodyPr wrap="none" lIns="45720" rIns="45720" tIns="0" bIns="0" anchor="ctr">
            <a:noAutofit/>
          </a:bodyPr>
          <a:lstStyle/>
          <a:p>
            <a:pPr algn="ctr">
              <a:lnSpc>
                <a:spcPct val="105000"/>
              </a:lnSpc>
              <a:spcBef>
                <a:spcPts val="0"/>
              </a:spcBef>
              <a:spcAft>
                <a:spcPts val="0"/>
              </a:spcAft>
              <a:defRPr sz="2200" b="1">
                <a:solidFill>
                  <a:srgbClr val="287960"/>
                </a:solidFill>
                <a:latin typeface="Arial"/>
              </a:defRPr>
            </a:pPr>
            <a:r>
              <a:t>Vehicle</a:t>
            </a:r>
          </a:p>
        </p:txBody>
      </p:sp>
      <p:sp>
        <p:nvSpPr>
          <p:cNvPr id="26" name="boxes_body"/>
          <p:cNvSpPr txBox="1"/>
          <p:nvPr/>
        </p:nvSpPr>
        <p:spPr>
          <a:xfrm>
            <a:off x="15060167" y="2432304"/>
            <a:ext cx="1197864" cy="630936"/>
          </a:xfrm>
          <a:prstGeom prst="rect">
            <a:avLst/>
          </a:prstGeom>
          <a:noFill/>
          <a:effectLst/>
        </p:spPr>
        <p:txBody>
          <a:bodyPr wrap="none" lIns="45720" rIns="45720" tIns="0" bIns="0" anchor="ctr">
            <a:noAutofit/>
          </a:bodyPr>
          <a:lstStyle/>
          <a:p>
            <a:pPr algn="ctr">
              <a:lnSpc>
                <a:spcPct val="105000"/>
              </a:lnSpc>
              <a:spcBef>
                <a:spcPts val="0"/>
              </a:spcBef>
              <a:spcAft>
                <a:spcPts val="0"/>
              </a:spcAft>
              <a:defRPr sz="1850" b="0">
                <a:solidFill>
                  <a:srgbClr val="233347"/>
                </a:solidFill>
                <a:latin typeface="Arial"/>
              </a:defRPr>
            </a:pPr>
            <a:r>
              <a:t>3D boxes</a:t>
            </a:r>
          </a:p>
        </p:txBody>
      </p:sp>
      <p:cxnSp>
        <p:nvCxnSpPr>
          <p:cNvPr id="27" name="encoders_to_deer_0"/>
          <p:cNvCxnSpPr/>
          <p:nvPr/>
        </p:nvCxnSpPr>
        <p:spPr>
          <a:xfrm>
            <a:off x="2468879" y="2514600"/>
            <a:ext cx="274321" cy="0"/>
          </a:xfrm>
          <a:prstGeom prst="line">
            <a:avLst/>
          </a:prstGeom>
          <a:ln w="40640">
            <a:solidFill>
              <a:srgbClr val="4B5D70"/>
            </a:solidFill>
            <a:tailEnd type="triangle" w="lg" len="lg"/>
          </a:ln>
          <a:effectLst/>
        </p:spPr>
        <p:style>
          <a:lnRef idx="2">
            <a:schemeClr val="accent1"/>
          </a:lnRef>
          <a:fillRef idx="0">
            <a:schemeClr val="accent1"/>
          </a:fillRef>
          <a:effectRef idx="0">
            <a:schemeClr val="accent1"/>
          </a:effectRef>
          <a:fontRef idx="minor">
            <a:schemeClr val="tx1"/>
          </a:fontRef>
        </p:style>
      </p:cxnSp>
      <p:cxnSp>
        <p:nvCxnSpPr>
          <p:cNvPr id="28" name="deer_to_base_0"/>
          <p:cNvCxnSpPr/>
          <p:nvPr/>
        </p:nvCxnSpPr>
        <p:spPr>
          <a:xfrm>
            <a:off x="5029200" y="2514600"/>
            <a:ext cx="365760" cy="0"/>
          </a:xfrm>
          <a:prstGeom prst="line">
            <a:avLst/>
          </a:prstGeom>
          <a:ln w="40640">
            <a:solidFill>
              <a:srgbClr val="4B5D70"/>
            </a:solidFill>
            <a:tailEnd type="triangle" w="lg" len="lg"/>
          </a:ln>
          <a:effectLst/>
        </p:spPr>
        <p:style>
          <a:lnRef idx="2">
            <a:schemeClr val="accent1"/>
          </a:lnRef>
          <a:fillRef idx="0">
            <a:schemeClr val="accent1"/>
          </a:fillRef>
          <a:effectRef idx="0">
            <a:schemeClr val="accent1"/>
          </a:effectRef>
          <a:fontRef idx="minor">
            <a:schemeClr val="tx1"/>
          </a:fontRef>
        </p:style>
      </p:cxnSp>
      <p:cxnSp>
        <p:nvCxnSpPr>
          <p:cNvPr id="29" name="base_to_sbr_0"/>
          <p:cNvCxnSpPr/>
          <p:nvPr/>
        </p:nvCxnSpPr>
        <p:spPr>
          <a:xfrm>
            <a:off x="6858000" y="2514600"/>
            <a:ext cx="320040" cy="0"/>
          </a:xfrm>
          <a:prstGeom prst="line">
            <a:avLst/>
          </a:prstGeom>
          <a:ln w="40640">
            <a:solidFill>
              <a:srgbClr val="4B5D70"/>
            </a:solidFill>
            <a:tailEnd type="triangle" w="lg" len="lg"/>
          </a:ln>
          <a:effectLst/>
        </p:spPr>
        <p:style>
          <a:lnRef idx="2">
            <a:schemeClr val="accent1"/>
          </a:lnRef>
          <a:fillRef idx="0">
            <a:schemeClr val="accent1"/>
          </a:fillRef>
          <a:effectRef idx="0">
            <a:schemeClr val="accent1"/>
          </a:effectRef>
          <a:fontRef idx="minor">
            <a:schemeClr val="tx1"/>
          </a:fontRef>
        </p:style>
      </p:cxnSp>
      <p:cxnSp>
        <p:nvCxnSpPr>
          <p:cNvPr id="30" name="sbr_to_output_0"/>
          <p:cNvCxnSpPr/>
          <p:nvPr/>
        </p:nvCxnSpPr>
        <p:spPr>
          <a:xfrm>
            <a:off x="9829800" y="2514600"/>
            <a:ext cx="320040" cy="0"/>
          </a:xfrm>
          <a:prstGeom prst="line">
            <a:avLst/>
          </a:prstGeom>
          <a:ln w="40640">
            <a:solidFill>
              <a:srgbClr val="4B5D70"/>
            </a:solidFill>
            <a:tailEnd type="triangle" w="lg" len="lg"/>
          </a:ln>
          <a:effectLst/>
        </p:spPr>
        <p:style>
          <a:lnRef idx="2">
            <a:schemeClr val="accent1"/>
          </a:lnRef>
          <a:fillRef idx="0">
            <a:schemeClr val="accent1"/>
          </a:fillRef>
          <a:effectRef idx="0">
            <a:schemeClr val="accent1"/>
          </a:effectRef>
          <a:fontRef idx="minor">
            <a:schemeClr val="tx1"/>
          </a:fontRef>
        </p:style>
      </p:cxnSp>
      <p:cxnSp>
        <p:nvCxnSpPr>
          <p:cNvPr id="31" name="output_to_attfuse_0"/>
          <p:cNvCxnSpPr/>
          <p:nvPr/>
        </p:nvCxnSpPr>
        <p:spPr>
          <a:xfrm>
            <a:off x="11658600" y="2514600"/>
            <a:ext cx="960120" cy="0"/>
          </a:xfrm>
          <a:prstGeom prst="line">
            <a:avLst/>
          </a:prstGeom>
          <a:ln w="40640">
            <a:solidFill>
              <a:srgbClr val="4B5D70"/>
            </a:solidFill>
            <a:tailEnd type="triangle" w="lg" len="lg"/>
          </a:ln>
          <a:effectLst/>
        </p:spPr>
        <p:style>
          <a:lnRef idx="2">
            <a:schemeClr val="accent1"/>
          </a:lnRef>
          <a:fillRef idx="0">
            <a:schemeClr val="accent1"/>
          </a:fillRef>
          <a:effectRef idx="0">
            <a:schemeClr val="accent1"/>
          </a:effectRef>
          <a:fontRef idx="minor">
            <a:schemeClr val="tx1"/>
          </a:fontRef>
        </p:style>
      </p:cxnSp>
      <p:cxnSp>
        <p:nvCxnSpPr>
          <p:cNvPr id="32" name="attfuse_to_boxes_0"/>
          <p:cNvCxnSpPr/>
          <p:nvPr/>
        </p:nvCxnSpPr>
        <p:spPr>
          <a:xfrm>
            <a:off x="14538960" y="2514600"/>
            <a:ext cx="457199" cy="0"/>
          </a:xfrm>
          <a:prstGeom prst="line">
            <a:avLst/>
          </a:prstGeom>
          <a:ln w="40640">
            <a:solidFill>
              <a:srgbClr val="4B5D70"/>
            </a:solidFill>
            <a:tailEnd type="triangle" w="lg" len="lg"/>
          </a:ln>
          <a:effectLst/>
        </p:spPr>
        <p:style>
          <a:lnRef idx="2">
            <a:schemeClr val="accent1"/>
          </a:lnRef>
          <a:fillRef idx="0">
            <a:schemeClr val="accent1"/>
          </a:fillRef>
          <a:effectRef idx="0">
            <a:schemeClr val="accent1"/>
          </a:effectRef>
          <a:fontRef idx="minor">
            <a:schemeClr val="tx1"/>
          </a:fontRef>
        </p:style>
      </p:cxnSp>
      <p:sp>
        <p:nvSpPr>
          <p:cNvPr id="33" name="base_feature"/>
          <p:cNvSpPr txBox="1"/>
          <p:nvPr/>
        </p:nvSpPr>
        <p:spPr>
          <a:xfrm>
            <a:off x="6839712" y="1947672"/>
            <a:ext cx="356616" cy="402336"/>
          </a:xfrm>
          <a:prstGeom prst="rect">
            <a:avLst/>
          </a:prstGeom>
          <a:noFill/>
          <a:effectLst/>
        </p:spPr>
        <p:txBody>
          <a:bodyPr wrap="none" lIns="45720" rIns="45720" tIns="0" bIns="0" anchor="ctr">
            <a:noAutofit/>
          </a:bodyPr>
          <a:lstStyle/>
          <a:p>
            <a:pPr algn="ctr">
              <a:lnSpc>
                <a:spcPct val="105000"/>
              </a:lnSpc>
              <a:spcBef>
                <a:spcPts val="0"/>
              </a:spcBef>
              <a:spcAft>
                <a:spcPts val="0"/>
              </a:spcAft>
              <a:defRPr sz="1900" b="0">
                <a:solidFill>
                  <a:srgbClr val="233347"/>
                </a:solidFill>
                <a:latin typeface="Arial"/>
              </a:defRPr>
            </a:pPr>
            <a:r>
              <a:t>Z</a:t>
            </a:r>
          </a:p>
        </p:txBody>
      </p:sp>
      <p:sp>
        <p:nvSpPr>
          <p:cNvPr id="34" name="corrected_feature"/>
          <p:cNvSpPr txBox="1"/>
          <p:nvPr/>
        </p:nvSpPr>
        <p:spPr>
          <a:xfrm>
            <a:off x="9802368" y="1947672"/>
            <a:ext cx="356616" cy="402336"/>
          </a:xfrm>
          <a:prstGeom prst="rect">
            <a:avLst/>
          </a:prstGeom>
          <a:noFill/>
          <a:effectLst/>
        </p:spPr>
        <p:txBody>
          <a:bodyPr wrap="none" lIns="45720" rIns="45720" tIns="0" bIns="0" anchor="ctr">
            <a:noAutofit/>
          </a:bodyPr>
          <a:lstStyle/>
          <a:p>
            <a:pPr algn="ctr">
              <a:lnSpc>
                <a:spcPct val="105000"/>
              </a:lnSpc>
              <a:spcBef>
                <a:spcPts val="0"/>
              </a:spcBef>
              <a:spcAft>
                <a:spcPts val="0"/>
              </a:spcAft>
              <a:defRPr sz="1900" b="0">
                <a:solidFill>
                  <a:srgbClr val="233347"/>
                </a:solidFill>
                <a:latin typeface="Arial"/>
              </a:defRPr>
            </a:pPr>
            <a:r>
              <a:t>Z′</a:t>
            </a:r>
          </a:p>
        </p:txBody>
      </p:sp>
      <p:sp>
        <p:nvSpPr>
          <p:cNvPr id="35" name="agent_features"/>
          <p:cNvSpPr txBox="1"/>
          <p:nvPr/>
        </p:nvSpPr>
        <p:spPr>
          <a:xfrm>
            <a:off x="11686032" y="2002536"/>
            <a:ext cx="850392" cy="320040"/>
          </a:xfrm>
          <a:prstGeom prst="rect">
            <a:avLst/>
          </a:prstGeom>
          <a:noFill/>
          <a:effectLst/>
        </p:spPr>
        <p:txBody>
          <a:bodyPr wrap="none" lIns="45720" rIns="45720" tIns="0" bIns="0" anchor="ctr">
            <a:noAutofit/>
          </a:bodyPr>
          <a:lstStyle/>
          <a:p>
            <a:pPr algn="ctr">
              <a:lnSpc>
                <a:spcPct val="105000"/>
              </a:lnSpc>
              <a:spcBef>
                <a:spcPts val="0"/>
              </a:spcBef>
              <a:spcAft>
                <a:spcPts val="0"/>
              </a:spcAft>
              <a:defRPr sz="1900" b="0">
                <a:solidFill>
                  <a:srgbClr val="233347"/>
                </a:solidFill>
                <a:latin typeface="Arial"/>
              </a:defRPr>
            </a:pPr>
            <a:r>
              <a:t>{Xᵢ}</a:t>
            </a:r>
          </a:p>
        </p:txBody>
      </p:sp>
      <p:cxnSp>
        <p:nvCxnSpPr>
          <p:cNvPr id="36" name="detached_types_0"/>
          <p:cNvCxnSpPr/>
          <p:nvPr/>
        </p:nvCxnSpPr>
        <p:spPr>
          <a:xfrm flipV="1">
            <a:off x="3840480" y="1280160"/>
            <a:ext cx="0" cy="548640"/>
          </a:xfrm>
          <a:prstGeom prst="line">
            <a:avLst/>
          </a:prstGeom>
          <a:ln w="40640">
            <a:solidFill>
              <a:srgbClr val="79539C"/>
            </a:solidFill>
            <a:prstDash val="dash"/>
          </a:ln>
          <a:effectLst/>
        </p:spPr>
        <p:style>
          <a:lnRef idx="2">
            <a:schemeClr val="accent1"/>
          </a:lnRef>
          <a:fillRef idx="0">
            <a:schemeClr val="accent1"/>
          </a:fillRef>
          <a:effectRef idx="0">
            <a:schemeClr val="accent1"/>
          </a:effectRef>
          <a:fontRef idx="minor">
            <a:schemeClr val="tx1"/>
          </a:fontRef>
        </p:style>
      </p:cxnSp>
      <p:cxnSp>
        <p:nvCxnSpPr>
          <p:cNvPr id="37" name="detached_types_1"/>
          <p:cNvCxnSpPr/>
          <p:nvPr/>
        </p:nvCxnSpPr>
        <p:spPr>
          <a:xfrm>
            <a:off x="3840480" y="1280160"/>
            <a:ext cx="4599432" cy="0"/>
          </a:xfrm>
          <a:prstGeom prst="line">
            <a:avLst/>
          </a:prstGeom>
          <a:ln w="40640">
            <a:solidFill>
              <a:srgbClr val="79539C"/>
            </a:solidFill>
            <a:prstDash val="dash"/>
          </a:ln>
          <a:effectLst/>
        </p:spPr>
        <p:style>
          <a:lnRef idx="2">
            <a:schemeClr val="accent1"/>
          </a:lnRef>
          <a:fillRef idx="0">
            <a:schemeClr val="accent1"/>
          </a:fillRef>
          <a:effectRef idx="0">
            <a:schemeClr val="accent1"/>
          </a:effectRef>
          <a:fontRef idx="minor">
            <a:schemeClr val="tx1"/>
          </a:fontRef>
        </p:style>
      </p:cxnSp>
      <p:cxnSp>
        <p:nvCxnSpPr>
          <p:cNvPr id="38" name="detached_types_2"/>
          <p:cNvCxnSpPr/>
          <p:nvPr/>
        </p:nvCxnSpPr>
        <p:spPr>
          <a:xfrm>
            <a:off x="8439912" y="1280160"/>
            <a:ext cx="0" cy="548640"/>
          </a:xfrm>
          <a:prstGeom prst="line">
            <a:avLst/>
          </a:prstGeom>
          <a:ln w="40640">
            <a:solidFill>
              <a:srgbClr val="79539C"/>
            </a:solidFill>
            <a:prstDash val="dash"/>
            <a:tailEnd type="triangle" w="lg" len="lg"/>
          </a:ln>
          <a:effectLst/>
        </p:spPr>
        <p:style>
          <a:lnRef idx="2">
            <a:schemeClr val="accent1"/>
          </a:lnRef>
          <a:fillRef idx="0">
            <a:schemeClr val="accent1"/>
          </a:fillRef>
          <a:effectRef idx="0">
            <a:schemeClr val="accent1"/>
          </a:effectRef>
          <a:fontRef idx="minor">
            <a:schemeClr val="tx1"/>
          </a:fontRef>
        </p:style>
      </p:cxnSp>
      <p:sp>
        <p:nvSpPr>
          <p:cNvPr id="39" name="type_label"/>
          <p:cNvSpPr txBox="1"/>
          <p:nvPr/>
        </p:nvSpPr>
        <p:spPr>
          <a:xfrm>
            <a:off x="3922776" y="768096"/>
            <a:ext cx="4526280" cy="448056"/>
          </a:xfrm>
          <a:prstGeom prst="rect">
            <a:avLst/>
          </a:prstGeom>
          <a:noFill/>
          <a:effectLst/>
        </p:spPr>
        <p:txBody>
          <a:bodyPr wrap="none" lIns="45720" rIns="45720" tIns="0" bIns="0" anchor="ctr">
            <a:noAutofit/>
          </a:bodyPr>
          <a:lstStyle/>
          <a:p>
            <a:pPr algn="ctr">
              <a:lnSpc>
                <a:spcPct val="105000"/>
              </a:lnSpc>
              <a:spcBef>
                <a:spcPts val="0"/>
              </a:spcBef>
              <a:spcAft>
                <a:spcPts val="0"/>
              </a:spcAft>
              <a:defRPr sz="1900" b="0">
                <a:solidFill>
                  <a:srgbClr val="79539C"/>
                </a:solidFill>
                <a:latin typeface="Arial"/>
              </a:defRPr>
            </a:pPr>
            <a:r>
              <a:t>Detached missing / spurious scores</a:t>
            </a:r>
          </a:p>
        </p:txBody>
      </p:sp>
      <p:cxnSp>
        <p:nvCxnSpPr>
          <p:cNvPr id="40" name="radar_bypass_0"/>
          <p:cNvCxnSpPr/>
          <p:nvPr/>
        </p:nvCxnSpPr>
        <p:spPr>
          <a:xfrm>
            <a:off x="1417320" y="3200400"/>
            <a:ext cx="0" cy="475487"/>
          </a:xfrm>
          <a:prstGeom prst="line">
            <a:avLst/>
          </a:prstGeom>
          <a:ln w="40640">
            <a:solidFill>
              <a:srgbClr val="28649B"/>
            </a:solidFill>
          </a:ln>
          <a:effectLst/>
        </p:spPr>
        <p:style>
          <a:lnRef idx="2">
            <a:schemeClr val="accent1"/>
          </a:lnRef>
          <a:fillRef idx="0">
            <a:schemeClr val="accent1"/>
          </a:fillRef>
          <a:effectRef idx="0">
            <a:schemeClr val="accent1"/>
          </a:effectRef>
          <a:fontRef idx="minor">
            <a:schemeClr val="tx1"/>
          </a:fontRef>
        </p:style>
      </p:cxnSp>
      <p:cxnSp>
        <p:nvCxnSpPr>
          <p:cNvPr id="41" name="radar_bypass_1"/>
          <p:cNvCxnSpPr/>
          <p:nvPr/>
        </p:nvCxnSpPr>
        <p:spPr>
          <a:xfrm>
            <a:off x="1417320" y="3675887"/>
            <a:ext cx="9491472" cy="0"/>
          </a:xfrm>
          <a:prstGeom prst="line">
            <a:avLst/>
          </a:prstGeom>
          <a:ln w="40640">
            <a:solidFill>
              <a:srgbClr val="28649B"/>
            </a:solidFill>
          </a:ln>
          <a:effectLst/>
        </p:spPr>
        <p:style>
          <a:lnRef idx="2">
            <a:schemeClr val="accent1"/>
          </a:lnRef>
          <a:fillRef idx="0">
            <a:schemeClr val="accent1"/>
          </a:fillRef>
          <a:effectRef idx="0">
            <a:schemeClr val="accent1"/>
          </a:effectRef>
          <a:fontRef idx="minor">
            <a:schemeClr val="tx1"/>
          </a:fontRef>
        </p:style>
      </p:cxnSp>
      <p:cxnSp>
        <p:nvCxnSpPr>
          <p:cNvPr id="42" name="radar_bypass_2"/>
          <p:cNvCxnSpPr/>
          <p:nvPr/>
        </p:nvCxnSpPr>
        <p:spPr>
          <a:xfrm flipV="1">
            <a:off x="10908792" y="3200400"/>
            <a:ext cx="0" cy="475487"/>
          </a:xfrm>
          <a:prstGeom prst="line">
            <a:avLst/>
          </a:prstGeom>
          <a:ln w="40640">
            <a:solidFill>
              <a:srgbClr val="28649B"/>
            </a:solidFill>
            <a:tailEnd type="triangle" w="lg" len="lg"/>
          </a:ln>
          <a:effectLst/>
        </p:spPr>
        <p:style>
          <a:lnRef idx="2">
            <a:schemeClr val="accent1"/>
          </a:lnRef>
          <a:fillRef idx="0">
            <a:schemeClr val="accent1"/>
          </a:fillRef>
          <a:effectRef idx="0">
            <a:schemeClr val="accent1"/>
          </a:effectRef>
          <a:fontRef idx="minor">
            <a:schemeClr val="tx1"/>
          </a:fontRef>
        </p:style>
      </p:cxnSp>
      <p:cxnSp>
        <p:nvCxnSpPr>
          <p:cNvPr id="43" name="radar_to_sbr_0"/>
          <p:cNvCxnSpPr/>
          <p:nvPr/>
        </p:nvCxnSpPr>
        <p:spPr>
          <a:xfrm flipV="1">
            <a:off x="8823960" y="3200400"/>
            <a:ext cx="0" cy="475487"/>
          </a:xfrm>
          <a:prstGeom prst="line">
            <a:avLst/>
          </a:prstGeom>
          <a:ln w="40640">
            <a:solidFill>
              <a:srgbClr val="28649B"/>
            </a:solidFill>
            <a:tailEnd type="triangle" w="lg" len="lg"/>
          </a:ln>
          <a:effectLst/>
        </p:spPr>
        <p:style>
          <a:lnRef idx="2">
            <a:schemeClr val="accent1"/>
          </a:lnRef>
          <a:fillRef idx="0">
            <a:schemeClr val="accent1"/>
          </a:fillRef>
          <a:effectRef idx="0">
            <a:schemeClr val="accent1"/>
          </a:effectRef>
          <a:fontRef idx="minor">
            <a:schemeClr val="tx1"/>
          </a:fontRef>
        </p:style>
      </p:cxnSp>
      <p:sp>
        <p:nvSpPr>
          <p:cNvPr id="44" name="radar_label"/>
          <p:cNvSpPr txBox="1"/>
          <p:nvPr/>
        </p:nvSpPr>
        <p:spPr>
          <a:xfrm>
            <a:off x="4325112" y="3712463"/>
            <a:ext cx="3108960" cy="393192"/>
          </a:xfrm>
          <a:prstGeom prst="rect">
            <a:avLst/>
          </a:prstGeom>
          <a:noFill/>
          <a:effectLst/>
        </p:spPr>
        <p:txBody>
          <a:bodyPr wrap="none" lIns="45720" rIns="45720" tIns="0" bIns="0" anchor="ctr">
            <a:noAutofit/>
          </a:bodyPr>
          <a:lstStyle/>
          <a:p>
            <a:pPr algn="ctr">
              <a:lnSpc>
                <a:spcPct val="105000"/>
              </a:lnSpc>
              <a:spcBef>
                <a:spcPts val="0"/>
              </a:spcBef>
              <a:spcAft>
                <a:spcPts val="0"/>
              </a:spcAft>
              <a:defRPr sz="1800" b="0">
                <a:solidFill>
                  <a:srgbClr val="28649B"/>
                </a:solidFill>
                <a:latin typeface="Arial"/>
              </a:defRPr>
            </a:pPr>
            <a:r>
              <a:t>Original radar feature</a:t>
            </a:r>
          </a:p>
        </p:txBody>
      </p:sp>
      <p:sp>
        <p:nvSpPr>
          <p:cNvPr id="45" name="observation_maps"/>
          <p:cNvSpPr/>
          <p:nvPr/>
        </p:nvSpPr>
        <p:spPr>
          <a:xfrm>
            <a:off x="365760" y="4169663"/>
            <a:ext cx="3520440" cy="393192"/>
          </a:xfrm>
          <a:prstGeom prst="rect">
            <a:avLst/>
          </a:prstGeom>
          <a:solidFill>
            <a:srgbClr val="FFFFFF"/>
          </a:solidFill>
          <a:ln>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observation_label"/>
          <p:cNvSpPr txBox="1"/>
          <p:nvPr/>
        </p:nvSpPr>
        <p:spPr>
          <a:xfrm>
            <a:off x="310896" y="4133087"/>
            <a:ext cx="3611880" cy="466344"/>
          </a:xfrm>
          <a:prstGeom prst="rect">
            <a:avLst/>
          </a:prstGeom>
          <a:noFill/>
          <a:effectLst/>
        </p:spPr>
        <p:txBody>
          <a:bodyPr wrap="none" lIns="45720" rIns="45720" tIns="0" bIns="0" anchor="ctr">
            <a:noAutofit/>
          </a:bodyPr>
          <a:lstStyle/>
          <a:p>
            <a:pPr algn="ctr">
              <a:lnSpc>
                <a:spcPct val="105000"/>
              </a:lnSpc>
              <a:spcBef>
                <a:spcPts val="0"/>
              </a:spcBef>
              <a:spcAft>
                <a:spcPts val="0"/>
              </a:spcAft>
              <a:defRPr sz="1800" b="0">
                <a:solidFill>
                  <a:srgbClr val="69798A"/>
                </a:solidFill>
                <a:latin typeface="Arial"/>
              </a:defRPr>
            </a:pPr>
            <a:r>
              <a:t>Current observation maps Ω</a:t>
            </a:r>
          </a:p>
        </p:txBody>
      </p:sp>
      <p:cxnSp>
        <p:nvCxnSpPr>
          <p:cNvPr id="47" name="observations_bus_0"/>
          <p:cNvCxnSpPr/>
          <p:nvPr/>
        </p:nvCxnSpPr>
        <p:spPr>
          <a:xfrm>
            <a:off x="3931920" y="4370832"/>
            <a:ext cx="3639311" cy="0"/>
          </a:xfrm>
          <a:prstGeom prst="line">
            <a:avLst/>
          </a:prstGeom>
          <a:ln w="27940">
            <a:solidFill>
              <a:srgbClr val="69798A"/>
            </a:solidFill>
            <a:prstDash val="sysDot"/>
          </a:ln>
          <a:effectLst/>
        </p:spPr>
        <p:style>
          <a:lnRef idx="2">
            <a:schemeClr val="accent1"/>
          </a:lnRef>
          <a:fillRef idx="0">
            <a:schemeClr val="accent1"/>
          </a:fillRef>
          <a:effectRef idx="0">
            <a:schemeClr val="accent1"/>
          </a:effectRef>
          <a:fontRef idx="minor">
            <a:schemeClr val="tx1"/>
          </a:fontRef>
        </p:style>
      </p:cxnSp>
      <p:cxnSp>
        <p:nvCxnSpPr>
          <p:cNvPr id="48" name="observations_bus_1"/>
          <p:cNvCxnSpPr/>
          <p:nvPr/>
        </p:nvCxnSpPr>
        <p:spPr>
          <a:xfrm flipV="1">
            <a:off x="7571231" y="3200400"/>
            <a:ext cx="0" cy="1170432"/>
          </a:xfrm>
          <a:prstGeom prst="line">
            <a:avLst/>
          </a:prstGeom>
          <a:ln w="27940">
            <a:solidFill>
              <a:srgbClr val="69798A"/>
            </a:solidFill>
            <a:prstDash val="sysDot"/>
            <a:tailEnd type="triangle" w="lg" len="lg"/>
          </a:ln>
          <a:effectLst/>
        </p:spPr>
        <p:style>
          <a:lnRef idx="2">
            <a:schemeClr val="accent1"/>
          </a:lnRef>
          <a:fillRef idx="0">
            <a:schemeClr val="accent1"/>
          </a:fillRef>
          <a:effectRef idx="0">
            <a:schemeClr val="accent1"/>
          </a:effectRef>
          <a:fontRef idx="minor">
            <a:schemeClr val="tx1"/>
          </a:fontRef>
        </p:style>
      </p:cxnSp>
      <p:cxnSp>
        <p:nvCxnSpPr>
          <p:cNvPr id="49" name="observations_to_deer_0"/>
          <p:cNvCxnSpPr/>
          <p:nvPr/>
        </p:nvCxnSpPr>
        <p:spPr>
          <a:xfrm flipV="1">
            <a:off x="4206240" y="3200400"/>
            <a:ext cx="0" cy="1170432"/>
          </a:xfrm>
          <a:prstGeom prst="line">
            <a:avLst/>
          </a:prstGeom>
          <a:ln w="27940">
            <a:solidFill>
              <a:srgbClr val="69798A"/>
            </a:solidFill>
            <a:prstDash val="sysDot"/>
            <a:tailEnd type="triangle" w="lg" len="lg"/>
          </a:ln>
          <a:effectLst/>
        </p:spPr>
        <p:style>
          <a:lnRef idx="2">
            <a:schemeClr val="accent1"/>
          </a:lnRef>
          <a:fillRef idx="0">
            <a:schemeClr val="accent1"/>
          </a:fillRef>
          <a:effectRef idx="0">
            <a:schemeClr val="accent1"/>
          </a:effectRef>
          <a:fontRef idx="minor">
            <a:schemeClr val="tx1"/>
          </a:fontRef>
        </p:style>
      </p:cxnSp>
      <p:sp>
        <p:nvSpPr>
          <p:cNvPr id="50" name="crossing_gap_4.6"/>
          <p:cNvSpPr/>
          <p:nvPr/>
        </p:nvSpPr>
        <p:spPr>
          <a:xfrm>
            <a:off x="4155948" y="3611880"/>
            <a:ext cx="100584" cy="128016"/>
          </a:xfrm>
          <a:prstGeom prst="rect">
            <a:avLst/>
          </a:prstGeom>
          <a:solidFill>
            <a:srgbClr val="FFFFFF"/>
          </a:solidFill>
          <a:ln>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51" name="observation_bridge_4.6_0"/>
          <p:cNvCxnSpPr/>
          <p:nvPr/>
        </p:nvCxnSpPr>
        <p:spPr>
          <a:xfrm>
            <a:off x="4206240" y="3611880"/>
            <a:ext cx="0" cy="128016"/>
          </a:xfrm>
          <a:prstGeom prst="line">
            <a:avLst/>
          </a:prstGeom>
          <a:ln w="27940">
            <a:solidFill>
              <a:srgbClr val="69798A"/>
            </a:solidFill>
            <a:prstDash val="sysDot"/>
          </a:ln>
          <a:effectLst/>
        </p:spPr>
        <p:style>
          <a:lnRef idx="2">
            <a:schemeClr val="accent1"/>
          </a:lnRef>
          <a:fillRef idx="0">
            <a:schemeClr val="accent1"/>
          </a:fillRef>
          <a:effectRef idx="0">
            <a:schemeClr val="accent1"/>
          </a:effectRef>
          <a:fontRef idx="minor">
            <a:schemeClr val="tx1"/>
          </a:fontRef>
        </p:style>
      </p:cxnSp>
      <p:sp>
        <p:nvSpPr>
          <p:cNvPr id="52" name="crossing_gap_8.28"/>
          <p:cNvSpPr/>
          <p:nvPr/>
        </p:nvSpPr>
        <p:spPr>
          <a:xfrm>
            <a:off x="7520940" y="3611880"/>
            <a:ext cx="100584" cy="128016"/>
          </a:xfrm>
          <a:prstGeom prst="rect">
            <a:avLst/>
          </a:prstGeom>
          <a:solidFill>
            <a:srgbClr val="FFFFFF"/>
          </a:solidFill>
          <a:ln>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53" name="observation_bridge_8.28_0"/>
          <p:cNvCxnSpPr/>
          <p:nvPr/>
        </p:nvCxnSpPr>
        <p:spPr>
          <a:xfrm>
            <a:off x="7571231" y="3611880"/>
            <a:ext cx="0" cy="128016"/>
          </a:xfrm>
          <a:prstGeom prst="line">
            <a:avLst/>
          </a:prstGeom>
          <a:ln w="27940">
            <a:solidFill>
              <a:srgbClr val="69798A"/>
            </a:solidFill>
            <a:prstDash val="sysDot"/>
          </a:ln>
          <a:effectLst/>
        </p:spPr>
        <p:style>
          <a:lnRef idx="2">
            <a:schemeClr val="accent1"/>
          </a:lnRef>
          <a:fillRef idx="0">
            <a:schemeClr val="accent1"/>
          </a:fillRef>
          <a:effectRef idx="0">
            <a:schemeClr val="accent1"/>
          </a:effectRef>
          <a:fontRef idx="minor">
            <a:schemeClr val="tx1"/>
          </a:fontRef>
        </p:style>
      </p:cxnSp>
      <p:cxnSp>
        <p:nvCxnSpPr>
          <p:cNvPr id="54" name="legend_Features_0"/>
          <p:cNvCxnSpPr/>
          <p:nvPr/>
        </p:nvCxnSpPr>
        <p:spPr>
          <a:xfrm>
            <a:off x="12691872" y="3621024"/>
            <a:ext cx="658368" cy="0"/>
          </a:xfrm>
          <a:prstGeom prst="line">
            <a:avLst/>
          </a:prstGeom>
          <a:ln w="33020">
            <a:solidFill>
              <a:srgbClr val="4B5D70"/>
            </a:solidFill>
            <a:tailEnd type="triangle" w="lg" len="lg"/>
          </a:ln>
          <a:effectLst/>
        </p:spPr>
        <p:style>
          <a:lnRef idx="2">
            <a:schemeClr val="accent1"/>
          </a:lnRef>
          <a:fillRef idx="0">
            <a:schemeClr val="accent1"/>
          </a:fillRef>
          <a:effectRef idx="0">
            <a:schemeClr val="accent1"/>
          </a:effectRef>
          <a:fontRef idx="minor">
            <a:schemeClr val="tx1"/>
          </a:fontRef>
        </p:style>
      </p:cxnSp>
      <p:sp>
        <p:nvSpPr>
          <p:cNvPr id="55" name="legend_text_Features"/>
          <p:cNvSpPr txBox="1"/>
          <p:nvPr/>
        </p:nvSpPr>
        <p:spPr>
          <a:xfrm>
            <a:off x="13459968" y="3419856"/>
            <a:ext cx="2971800" cy="402336"/>
          </a:xfrm>
          <a:prstGeom prst="rect">
            <a:avLst/>
          </a:prstGeom>
          <a:noFill/>
          <a:effectLst/>
        </p:spPr>
        <p:txBody>
          <a:bodyPr wrap="none" lIns="45720" rIns="45720" tIns="0" bIns="0" anchor="ctr">
            <a:noAutofit/>
          </a:bodyPr>
          <a:lstStyle/>
          <a:p>
            <a:pPr algn="l">
              <a:lnSpc>
                <a:spcPct val="105000"/>
              </a:lnSpc>
              <a:spcBef>
                <a:spcPts val="0"/>
              </a:spcBef>
              <a:spcAft>
                <a:spcPts val="0"/>
              </a:spcAft>
              <a:defRPr sz="1800" b="0">
                <a:solidFill>
                  <a:srgbClr val="526275"/>
                </a:solidFill>
                <a:latin typeface="Arial"/>
              </a:defRPr>
            </a:pPr>
            <a:r>
              <a:t>Features</a:t>
            </a:r>
          </a:p>
        </p:txBody>
      </p:sp>
      <p:cxnSp>
        <p:nvCxnSpPr>
          <p:cNvPr id="56" name="legend_Detached scores_0"/>
          <p:cNvCxnSpPr/>
          <p:nvPr/>
        </p:nvCxnSpPr>
        <p:spPr>
          <a:xfrm>
            <a:off x="12691872" y="3995928"/>
            <a:ext cx="658368" cy="0"/>
          </a:xfrm>
          <a:prstGeom prst="line">
            <a:avLst/>
          </a:prstGeom>
          <a:ln w="33020">
            <a:solidFill>
              <a:srgbClr val="79539C"/>
            </a:solidFill>
            <a:prstDash val="dash"/>
            <a:tailEnd type="triangle" w="lg" len="lg"/>
          </a:ln>
          <a:effectLst/>
        </p:spPr>
        <p:style>
          <a:lnRef idx="2">
            <a:schemeClr val="accent1"/>
          </a:lnRef>
          <a:fillRef idx="0">
            <a:schemeClr val="accent1"/>
          </a:fillRef>
          <a:effectRef idx="0">
            <a:schemeClr val="accent1"/>
          </a:effectRef>
          <a:fontRef idx="minor">
            <a:schemeClr val="tx1"/>
          </a:fontRef>
        </p:style>
      </p:cxnSp>
      <p:sp>
        <p:nvSpPr>
          <p:cNvPr id="57" name="legend_text_Detached scores"/>
          <p:cNvSpPr txBox="1"/>
          <p:nvPr/>
        </p:nvSpPr>
        <p:spPr>
          <a:xfrm>
            <a:off x="13459968" y="3794760"/>
            <a:ext cx="2971800" cy="402336"/>
          </a:xfrm>
          <a:prstGeom prst="rect">
            <a:avLst/>
          </a:prstGeom>
          <a:noFill/>
          <a:effectLst/>
        </p:spPr>
        <p:txBody>
          <a:bodyPr wrap="none" lIns="45720" rIns="45720" tIns="0" bIns="0" anchor="ctr">
            <a:noAutofit/>
          </a:bodyPr>
          <a:lstStyle/>
          <a:p>
            <a:pPr algn="l">
              <a:lnSpc>
                <a:spcPct val="105000"/>
              </a:lnSpc>
              <a:spcBef>
                <a:spcPts val="0"/>
              </a:spcBef>
              <a:spcAft>
                <a:spcPts val="0"/>
              </a:spcAft>
              <a:defRPr sz="1800" b="0">
                <a:solidFill>
                  <a:srgbClr val="526275"/>
                </a:solidFill>
                <a:latin typeface="Arial"/>
              </a:defRPr>
            </a:pPr>
            <a:r>
              <a:t>Detached scores</a:t>
            </a:r>
          </a:p>
        </p:txBody>
      </p:sp>
      <p:cxnSp>
        <p:nvCxnSpPr>
          <p:cNvPr id="58" name="legend_Observation maps_0"/>
          <p:cNvCxnSpPr/>
          <p:nvPr/>
        </p:nvCxnSpPr>
        <p:spPr>
          <a:xfrm>
            <a:off x="12691872" y="4370832"/>
            <a:ext cx="658368" cy="0"/>
          </a:xfrm>
          <a:prstGeom prst="line">
            <a:avLst/>
          </a:prstGeom>
          <a:ln w="33020">
            <a:solidFill>
              <a:srgbClr val="69798A"/>
            </a:solidFill>
            <a:prstDash val="sysDot"/>
            <a:tailEnd type="triangle" w="lg" len="lg"/>
          </a:ln>
          <a:effectLst/>
        </p:spPr>
        <p:style>
          <a:lnRef idx="2">
            <a:schemeClr val="accent1"/>
          </a:lnRef>
          <a:fillRef idx="0">
            <a:schemeClr val="accent1"/>
          </a:fillRef>
          <a:effectRef idx="0">
            <a:schemeClr val="accent1"/>
          </a:effectRef>
          <a:fontRef idx="minor">
            <a:schemeClr val="tx1"/>
          </a:fontRef>
        </p:style>
      </p:cxnSp>
      <p:sp>
        <p:nvSpPr>
          <p:cNvPr id="59" name="legend_text_Observation maps"/>
          <p:cNvSpPr txBox="1"/>
          <p:nvPr/>
        </p:nvSpPr>
        <p:spPr>
          <a:xfrm>
            <a:off x="13459968" y="4169664"/>
            <a:ext cx="2971800" cy="402336"/>
          </a:xfrm>
          <a:prstGeom prst="rect">
            <a:avLst/>
          </a:prstGeom>
          <a:noFill/>
          <a:effectLst/>
        </p:spPr>
        <p:txBody>
          <a:bodyPr wrap="none" lIns="45720" rIns="45720" tIns="0" bIns="0" anchor="ctr">
            <a:noAutofit/>
          </a:bodyPr>
          <a:lstStyle/>
          <a:p>
            <a:pPr algn="l">
              <a:lnSpc>
                <a:spcPct val="105000"/>
              </a:lnSpc>
              <a:spcBef>
                <a:spcPts val="0"/>
              </a:spcBef>
              <a:spcAft>
                <a:spcPts val="0"/>
              </a:spcAft>
              <a:defRPr sz="1800" b="0">
                <a:solidFill>
                  <a:srgbClr val="526275"/>
                </a:solidFill>
                <a:latin typeface="Arial"/>
              </a:defRPr>
            </a:pPr>
            <a:r>
              <a:t>Observation maps</a:t>
            </a:r>
          </a:p>
        </p:txBody>
      </p:sp>
      <p:sp>
        <p:nvSpPr>
          <p:cNvPr id="60" name="training_note"/>
          <p:cNvSpPr txBox="1"/>
          <p:nvPr/>
        </p:nvSpPr>
        <p:spPr>
          <a:xfrm>
            <a:off x="365760" y="859536"/>
            <a:ext cx="3200400" cy="429768"/>
          </a:xfrm>
          <a:prstGeom prst="rect">
            <a:avLst/>
          </a:prstGeom>
          <a:noFill/>
          <a:effectLst/>
        </p:spPr>
        <p:txBody>
          <a:bodyPr wrap="none" lIns="45720" rIns="45720" tIns="0" bIns="0" anchor="ctr">
            <a:noAutofit/>
          </a:bodyPr>
          <a:lstStyle/>
          <a:p>
            <a:pPr algn="l">
              <a:lnSpc>
                <a:spcPct val="105000"/>
              </a:lnSpc>
              <a:spcBef>
                <a:spcPts val="0"/>
              </a:spcBef>
              <a:spcAft>
                <a:spcPts val="0"/>
              </a:spcAft>
              <a:defRPr sz="1750" b="0">
                <a:solidFill>
                  <a:srgbClr val="526275"/>
                </a:solidFill>
                <a:latin typeface="Arial"/>
              </a:defRPr>
            </a:pPr>
            <a:r>
              <a:t>Type targets: training only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 1. Evidence Routing and Supported Residuals</dc:title>
  <dc:subject>Editable architecture diagram for the anonymous manuscript</dc:subject>
  <dc:creator>Anonymous Authors</dc:creator>
  <cp:keywords>DEER, SBR, cooperative perception, LiDAR, radar</cp:keywords>
  <dc:description>Native editable shapes and connectors. Generated from scripts/draw_architecture.py.</dc:description>
  <cp:lastModifiedBy/>
  <cp:revision>1</cp:revision>
  <dcterms:created xsi:type="dcterms:W3CDTF">2013-01-27T09:14:16Z</dcterms:created>
  <dcterms:modified xsi:type="dcterms:W3CDTF">2013-01-27T09:15:58Z</dcterms:modified>
  <cp:category/>
</cp:coreProperties>
</file>